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3" r:id="rId4"/>
    <p:sldId id="264" r:id="rId5"/>
    <p:sldId id="259" r:id="rId6"/>
    <p:sldId id="260" r:id="rId7"/>
    <p:sldId id="261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Slab" pitchFamily="2" charset="0"/>
      <p:regular r:id="rId14"/>
      <p:bold r:id="rId15"/>
    </p:embeddedFont>
    <p:embeddedFont>
      <p:font typeface="Sitka Heading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408"/>
  </p:normalViewPr>
  <p:slideViewPr>
    <p:cSldViewPr snapToGrid="0">
      <p:cViewPr varScale="1">
        <p:scale>
          <a:sx n="89" d="100"/>
          <a:sy n="89" d="100"/>
        </p:scale>
        <p:origin x="128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CFE3B5-9424-44EA-BE8B-3EDF51D5215A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852D71D4-AD31-4D95-A086-26A277FDFF76}">
      <dgm:prSet phldrT="[Text]" phldr="0"/>
      <dgm:spPr/>
      <dgm:t>
        <a:bodyPr/>
        <a:lstStyle/>
        <a:p>
          <a:r>
            <a:rPr lang="en-US" dirty="0">
              <a:latin typeface="Sitka Heading" pitchFamily="2" charset="0"/>
            </a:rPr>
            <a:t>DATA</a:t>
          </a:r>
          <a:endParaRPr lang="en-IN" dirty="0">
            <a:latin typeface="Sitka Heading" pitchFamily="2" charset="0"/>
          </a:endParaRPr>
        </a:p>
      </dgm:t>
    </dgm:pt>
    <dgm:pt modelId="{D4C577F0-A121-4151-9BDC-A2BE05B9C812}" type="parTrans" cxnId="{D900FF31-E3BD-4FD8-8B71-E36777E1D8F5}">
      <dgm:prSet/>
      <dgm:spPr/>
      <dgm:t>
        <a:bodyPr/>
        <a:lstStyle/>
        <a:p>
          <a:endParaRPr lang="en-IN"/>
        </a:p>
      </dgm:t>
    </dgm:pt>
    <dgm:pt modelId="{D419BB75-0B29-471F-917A-47B677321662}" type="sibTrans" cxnId="{D900FF31-E3BD-4FD8-8B71-E36777E1D8F5}">
      <dgm:prSet/>
      <dgm:spPr/>
      <dgm:t>
        <a:bodyPr/>
        <a:lstStyle/>
        <a:p>
          <a:endParaRPr lang="en-IN">
            <a:latin typeface="Sitka Heading" pitchFamily="2" charset="0"/>
          </a:endParaRPr>
        </a:p>
      </dgm:t>
    </dgm:pt>
    <dgm:pt modelId="{2EBE3D49-FE49-45E4-B6CE-F96D1DB2348D}">
      <dgm:prSet phldrT="[Text]" phldr="0"/>
      <dgm:spPr/>
      <dgm:t>
        <a:bodyPr/>
        <a:lstStyle/>
        <a:p>
          <a:r>
            <a:rPr lang="en-US" dirty="0">
              <a:latin typeface="Sitka Heading" pitchFamily="2" charset="0"/>
            </a:rPr>
            <a:t>RISK SCORE</a:t>
          </a:r>
          <a:endParaRPr lang="en-IN" dirty="0">
            <a:latin typeface="Sitka Heading" pitchFamily="2" charset="0"/>
          </a:endParaRPr>
        </a:p>
      </dgm:t>
    </dgm:pt>
    <dgm:pt modelId="{2A8F184D-AB64-47C9-A047-5625B0E5F1BF}" type="parTrans" cxnId="{5B3BE960-8F2E-421D-9500-E5F2EC743E94}">
      <dgm:prSet/>
      <dgm:spPr/>
      <dgm:t>
        <a:bodyPr/>
        <a:lstStyle/>
        <a:p>
          <a:endParaRPr lang="en-IN"/>
        </a:p>
      </dgm:t>
    </dgm:pt>
    <dgm:pt modelId="{78A9B2C0-81FE-41D3-B207-2F614AB30037}" type="sibTrans" cxnId="{5B3BE960-8F2E-421D-9500-E5F2EC743E94}">
      <dgm:prSet/>
      <dgm:spPr/>
      <dgm:t>
        <a:bodyPr/>
        <a:lstStyle/>
        <a:p>
          <a:endParaRPr lang="en-IN">
            <a:latin typeface="Sitka Heading" pitchFamily="2" charset="0"/>
          </a:endParaRPr>
        </a:p>
      </dgm:t>
    </dgm:pt>
    <dgm:pt modelId="{E63B4983-488C-452B-BC0E-4C31CC817A25}">
      <dgm:prSet phldrT="[Text]" phldr="0"/>
      <dgm:spPr/>
      <dgm:t>
        <a:bodyPr/>
        <a:lstStyle/>
        <a:p>
          <a:r>
            <a:rPr lang="en-US" dirty="0">
              <a:latin typeface="Sitka Heading" pitchFamily="2" charset="0"/>
            </a:rPr>
            <a:t>ACTION</a:t>
          </a:r>
          <a:endParaRPr lang="en-IN" dirty="0">
            <a:latin typeface="Sitka Heading" pitchFamily="2" charset="0"/>
          </a:endParaRPr>
        </a:p>
      </dgm:t>
    </dgm:pt>
    <dgm:pt modelId="{E5912911-95B6-4D25-BBA8-791730F3F6CA}" type="parTrans" cxnId="{03D78952-5DA9-4AD3-8745-6877401A29E6}">
      <dgm:prSet/>
      <dgm:spPr/>
      <dgm:t>
        <a:bodyPr/>
        <a:lstStyle/>
        <a:p>
          <a:endParaRPr lang="en-IN"/>
        </a:p>
      </dgm:t>
    </dgm:pt>
    <dgm:pt modelId="{46F9F96B-3DED-4BFF-B2E1-CFE0A8FFAD0D}" type="sibTrans" cxnId="{03D78952-5DA9-4AD3-8745-6877401A29E6}">
      <dgm:prSet/>
      <dgm:spPr/>
      <dgm:t>
        <a:bodyPr/>
        <a:lstStyle/>
        <a:p>
          <a:endParaRPr lang="en-IN">
            <a:latin typeface="Sitka Heading" pitchFamily="2" charset="0"/>
          </a:endParaRPr>
        </a:p>
      </dgm:t>
    </dgm:pt>
    <dgm:pt modelId="{98486FBF-6BB4-4301-89FA-F370A4DD3216}">
      <dgm:prSet/>
      <dgm:spPr/>
      <dgm:t>
        <a:bodyPr/>
        <a:lstStyle/>
        <a:p>
          <a:r>
            <a:rPr lang="en-US" dirty="0">
              <a:latin typeface="Sitka Heading" pitchFamily="2" charset="0"/>
            </a:rPr>
            <a:t>FEEDBACK LOOP</a:t>
          </a:r>
          <a:endParaRPr lang="en-IN" dirty="0">
            <a:latin typeface="Sitka Heading" pitchFamily="2" charset="0"/>
          </a:endParaRPr>
        </a:p>
      </dgm:t>
    </dgm:pt>
    <dgm:pt modelId="{186B091B-8354-4318-A19C-8ABD4624D512}" type="parTrans" cxnId="{8F8AC35B-F669-4D1D-8771-1D609A142316}">
      <dgm:prSet/>
      <dgm:spPr/>
      <dgm:t>
        <a:bodyPr/>
        <a:lstStyle/>
        <a:p>
          <a:endParaRPr lang="en-IN"/>
        </a:p>
      </dgm:t>
    </dgm:pt>
    <dgm:pt modelId="{BE4A223C-78C8-4F65-B62E-9ED26826E6A7}" type="sibTrans" cxnId="{8F8AC35B-F669-4D1D-8771-1D609A142316}">
      <dgm:prSet/>
      <dgm:spPr/>
      <dgm:t>
        <a:bodyPr/>
        <a:lstStyle/>
        <a:p>
          <a:endParaRPr lang="en-IN"/>
        </a:p>
      </dgm:t>
    </dgm:pt>
    <dgm:pt modelId="{98F41C45-1807-4E23-A604-024740EE99E0}" type="pres">
      <dgm:prSet presAssocID="{E5CFE3B5-9424-44EA-BE8B-3EDF51D5215A}" presName="Name0" presStyleCnt="0">
        <dgm:presLayoutVars>
          <dgm:dir/>
          <dgm:resizeHandles val="exact"/>
        </dgm:presLayoutVars>
      </dgm:prSet>
      <dgm:spPr/>
    </dgm:pt>
    <dgm:pt modelId="{18AC3363-B648-4816-8800-8EE5BB62E654}" type="pres">
      <dgm:prSet presAssocID="{852D71D4-AD31-4D95-A086-26A277FDFF76}" presName="node" presStyleLbl="node1" presStyleIdx="0" presStyleCnt="4">
        <dgm:presLayoutVars>
          <dgm:bulletEnabled val="1"/>
        </dgm:presLayoutVars>
      </dgm:prSet>
      <dgm:spPr/>
    </dgm:pt>
    <dgm:pt modelId="{FA9FA9B2-D3D0-420E-8952-5059B9AFBE3A}" type="pres">
      <dgm:prSet presAssocID="{D419BB75-0B29-471F-917A-47B677321662}" presName="sibTrans" presStyleLbl="sibTrans2D1" presStyleIdx="0" presStyleCnt="3"/>
      <dgm:spPr/>
    </dgm:pt>
    <dgm:pt modelId="{7A73C9C6-4FEE-4026-A1D9-25EB221BA6AB}" type="pres">
      <dgm:prSet presAssocID="{D419BB75-0B29-471F-917A-47B677321662}" presName="connectorText" presStyleLbl="sibTrans2D1" presStyleIdx="0" presStyleCnt="3"/>
      <dgm:spPr/>
    </dgm:pt>
    <dgm:pt modelId="{3E74C4BD-5AEC-4A4C-8D68-A0A4E71B109D}" type="pres">
      <dgm:prSet presAssocID="{2EBE3D49-FE49-45E4-B6CE-F96D1DB2348D}" presName="node" presStyleLbl="node1" presStyleIdx="1" presStyleCnt="4">
        <dgm:presLayoutVars>
          <dgm:bulletEnabled val="1"/>
        </dgm:presLayoutVars>
      </dgm:prSet>
      <dgm:spPr/>
    </dgm:pt>
    <dgm:pt modelId="{B6BFCD2B-21EA-4213-9701-3FFF1E5F370E}" type="pres">
      <dgm:prSet presAssocID="{78A9B2C0-81FE-41D3-B207-2F614AB30037}" presName="sibTrans" presStyleLbl="sibTrans2D1" presStyleIdx="1" presStyleCnt="3"/>
      <dgm:spPr/>
    </dgm:pt>
    <dgm:pt modelId="{A7E93B70-E2C1-4BE7-B082-4FB03CF6F45F}" type="pres">
      <dgm:prSet presAssocID="{78A9B2C0-81FE-41D3-B207-2F614AB30037}" presName="connectorText" presStyleLbl="sibTrans2D1" presStyleIdx="1" presStyleCnt="3"/>
      <dgm:spPr/>
    </dgm:pt>
    <dgm:pt modelId="{EB160EEA-6827-424B-B836-663A7D4F2DF2}" type="pres">
      <dgm:prSet presAssocID="{E63B4983-488C-452B-BC0E-4C31CC817A25}" presName="node" presStyleLbl="node1" presStyleIdx="2" presStyleCnt="4">
        <dgm:presLayoutVars>
          <dgm:bulletEnabled val="1"/>
        </dgm:presLayoutVars>
      </dgm:prSet>
      <dgm:spPr/>
    </dgm:pt>
    <dgm:pt modelId="{C49CA969-DF4D-49B9-BFE6-2F2F3BE8855A}" type="pres">
      <dgm:prSet presAssocID="{46F9F96B-3DED-4BFF-B2E1-CFE0A8FFAD0D}" presName="sibTrans" presStyleLbl="sibTrans2D1" presStyleIdx="2" presStyleCnt="3"/>
      <dgm:spPr/>
    </dgm:pt>
    <dgm:pt modelId="{CA3C2E4B-FD28-4DDB-AB66-B1529ACE0C42}" type="pres">
      <dgm:prSet presAssocID="{46F9F96B-3DED-4BFF-B2E1-CFE0A8FFAD0D}" presName="connectorText" presStyleLbl="sibTrans2D1" presStyleIdx="2" presStyleCnt="3"/>
      <dgm:spPr/>
    </dgm:pt>
    <dgm:pt modelId="{0A2AB52C-BD3E-41B5-B114-7C03B064F8DE}" type="pres">
      <dgm:prSet presAssocID="{98486FBF-6BB4-4301-89FA-F370A4DD3216}" presName="node" presStyleLbl="node1" presStyleIdx="3" presStyleCnt="4">
        <dgm:presLayoutVars>
          <dgm:bulletEnabled val="1"/>
        </dgm:presLayoutVars>
      </dgm:prSet>
      <dgm:spPr/>
    </dgm:pt>
  </dgm:ptLst>
  <dgm:cxnLst>
    <dgm:cxn modelId="{59ED3C1C-433D-4EA4-AD7A-946C10E8C3A9}" type="presOf" srcId="{2EBE3D49-FE49-45E4-B6CE-F96D1DB2348D}" destId="{3E74C4BD-5AEC-4A4C-8D68-A0A4E71B109D}" srcOrd="0" destOrd="0" presId="urn:microsoft.com/office/officeart/2005/8/layout/process1"/>
    <dgm:cxn modelId="{D900FF31-E3BD-4FD8-8B71-E36777E1D8F5}" srcId="{E5CFE3B5-9424-44EA-BE8B-3EDF51D5215A}" destId="{852D71D4-AD31-4D95-A086-26A277FDFF76}" srcOrd="0" destOrd="0" parTransId="{D4C577F0-A121-4151-9BDC-A2BE05B9C812}" sibTransId="{D419BB75-0B29-471F-917A-47B677321662}"/>
    <dgm:cxn modelId="{8F8AC35B-F669-4D1D-8771-1D609A142316}" srcId="{E5CFE3B5-9424-44EA-BE8B-3EDF51D5215A}" destId="{98486FBF-6BB4-4301-89FA-F370A4DD3216}" srcOrd="3" destOrd="0" parTransId="{186B091B-8354-4318-A19C-8ABD4624D512}" sibTransId="{BE4A223C-78C8-4F65-B62E-9ED26826E6A7}"/>
    <dgm:cxn modelId="{5B3BE960-8F2E-421D-9500-E5F2EC743E94}" srcId="{E5CFE3B5-9424-44EA-BE8B-3EDF51D5215A}" destId="{2EBE3D49-FE49-45E4-B6CE-F96D1DB2348D}" srcOrd="1" destOrd="0" parTransId="{2A8F184D-AB64-47C9-A047-5625B0E5F1BF}" sibTransId="{78A9B2C0-81FE-41D3-B207-2F614AB30037}"/>
    <dgm:cxn modelId="{A1143D61-9C41-4AFE-81D5-95480CC9F713}" type="presOf" srcId="{852D71D4-AD31-4D95-A086-26A277FDFF76}" destId="{18AC3363-B648-4816-8800-8EE5BB62E654}" srcOrd="0" destOrd="0" presId="urn:microsoft.com/office/officeart/2005/8/layout/process1"/>
    <dgm:cxn modelId="{03D78952-5DA9-4AD3-8745-6877401A29E6}" srcId="{E5CFE3B5-9424-44EA-BE8B-3EDF51D5215A}" destId="{E63B4983-488C-452B-BC0E-4C31CC817A25}" srcOrd="2" destOrd="0" parTransId="{E5912911-95B6-4D25-BBA8-791730F3F6CA}" sibTransId="{46F9F96B-3DED-4BFF-B2E1-CFE0A8FFAD0D}"/>
    <dgm:cxn modelId="{C2887475-15B5-4C0A-9512-89E4B72523D4}" type="presOf" srcId="{E5CFE3B5-9424-44EA-BE8B-3EDF51D5215A}" destId="{98F41C45-1807-4E23-A604-024740EE99E0}" srcOrd="0" destOrd="0" presId="urn:microsoft.com/office/officeart/2005/8/layout/process1"/>
    <dgm:cxn modelId="{EB2A7C85-CC6B-4495-A63A-E9AC2FB4E6CD}" type="presOf" srcId="{D419BB75-0B29-471F-917A-47B677321662}" destId="{FA9FA9B2-D3D0-420E-8952-5059B9AFBE3A}" srcOrd="0" destOrd="0" presId="urn:microsoft.com/office/officeart/2005/8/layout/process1"/>
    <dgm:cxn modelId="{5D4AE28B-EAEE-4E8A-8C26-E6E11791A1F9}" type="presOf" srcId="{98486FBF-6BB4-4301-89FA-F370A4DD3216}" destId="{0A2AB52C-BD3E-41B5-B114-7C03B064F8DE}" srcOrd="0" destOrd="0" presId="urn:microsoft.com/office/officeart/2005/8/layout/process1"/>
    <dgm:cxn modelId="{CDBFD395-4CA4-40E5-A1B7-E2A3E8D0E0BC}" type="presOf" srcId="{78A9B2C0-81FE-41D3-B207-2F614AB30037}" destId="{B6BFCD2B-21EA-4213-9701-3FFF1E5F370E}" srcOrd="0" destOrd="0" presId="urn:microsoft.com/office/officeart/2005/8/layout/process1"/>
    <dgm:cxn modelId="{9E7B1E96-EBAA-44AB-889D-FE40D43880EA}" type="presOf" srcId="{D419BB75-0B29-471F-917A-47B677321662}" destId="{7A73C9C6-4FEE-4026-A1D9-25EB221BA6AB}" srcOrd="1" destOrd="0" presId="urn:microsoft.com/office/officeart/2005/8/layout/process1"/>
    <dgm:cxn modelId="{D02B54A5-FAE9-40AF-9A43-EB417F8F2AE5}" type="presOf" srcId="{78A9B2C0-81FE-41D3-B207-2F614AB30037}" destId="{A7E93B70-E2C1-4BE7-B082-4FB03CF6F45F}" srcOrd="1" destOrd="0" presId="urn:microsoft.com/office/officeart/2005/8/layout/process1"/>
    <dgm:cxn modelId="{DA766DD0-51D4-4ABC-AB28-586BB91067D0}" type="presOf" srcId="{46F9F96B-3DED-4BFF-B2E1-CFE0A8FFAD0D}" destId="{C49CA969-DF4D-49B9-BFE6-2F2F3BE8855A}" srcOrd="0" destOrd="0" presId="urn:microsoft.com/office/officeart/2005/8/layout/process1"/>
    <dgm:cxn modelId="{C6AFA1DA-1EF7-4620-84E0-B5E748016C6E}" type="presOf" srcId="{E63B4983-488C-452B-BC0E-4C31CC817A25}" destId="{EB160EEA-6827-424B-B836-663A7D4F2DF2}" srcOrd="0" destOrd="0" presId="urn:microsoft.com/office/officeart/2005/8/layout/process1"/>
    <dgm:cxn modelId="{6B453AF6-7D0A-45D5-9462-FF775A66F868}" type="presOf" srcId="{46F9F96B-3DED-4BFF-B2E1-CFE0A8FFAD0D}" destId="{CA3C2E4B-FD28-4DDB-AB66-B1529ACE0C42}" srcOrd="1" destOrd="0" presId="urn:microsoft.com/office/officeart/2005/8/layout/process1"/>
    <dgm:cxn modelId="{CD6DC98F-2040-41F6-9BA8-2010F31C74CB}" type="presParOf" srcId="{98F41C45-1807-4E23-A604-024740EE99E0}" destId="{18AC3363-B648-4816-8800-8EE5BB62E654}" srcOrd="0" destOrd="0" presId="urn:microsoft.com/office/officeart/2005/8/layout/process1"/>
    <dgm:cxn modelId="{1BF8B77F-57E7-4D48-A85C-D6CF33CC025C}" type="presParOf" srcId="{98F41C45-1807-4E23-A604-024740EE99E0}" destId="{FA9FA9B2-D3D0-420E-8952-5059B9AFBE3A}" srcOrd="1" destOrd="0" presId="urn:microsoft.com/office/officeart/2005/8/layout/process1"/>
    <dgm:cxn modelId="{B8A9F69C-D1C8-48B1-A1B9-1D2759C4EF97}" type="presParOf" srcId="{FA9FA9B2-D3D0-420E-8952-5059B9AFBE3A}" destId="{7A73C9C6-4FEE-4026-A1D9-25EB221BA6AB}" srcOrd="0" destOrd="0" presId="urn:microsoft.com/office/officeart/2005/8/layout/process1"/>
    <dgm:cxn modelId="{0E813BC6-D5C6-41FC-A130-7B9288F84F86}" type="presParOf" srcId="{98F41C45-1807-4E23-A604-024740EE99E0}" destId="{3E74C4BD-5AEC-4A4C-8D68-A0A4E71B109D}" srcOrd="2" destOrd="0" presId="urn:microsoft.com/office/officeart/2005/8/layout/process1"/>
    <dgm:cxn modelId="{3DBCCF5C-D910-409F-B11F-AD682EB888E2}" type="presParOf" srcId="{98F41C45-1807-4E23-A604-024740EE99E0}" destId="{B6BFCD2B-21EA-4213-9701-3FFF1E5F370E}" srcOrd="3" destOrd="0" presId="urn:microsoft.com/office/officeart/2005/8/layout/process1"/>
    <dgm:cxn modelId="{F5C37630-E39A-497E-A53A-539358C53204}" type="presParOf" srcId="{B6BFCD2B-21EA-4213-9701-3FFF1E5F370E}" destId="{A7E93B70-E2C1-4BE7-B082-4FB03CF6F45F}" srcOrd="0" destOrd="0" presId="urn:microsoft.com/office/officeart/2005/8/layout/process1"/>
    <dgm:cxn modelId="{2DC6E104-9124-4949-BABE-64D032B17578}" type="presParOf" srcId="{98F41C45-1807-4E23-A604-024740EE99E0}" destId="{EB160EEA-6827-424B-B836-663A7D4F2DF2}" srcOrd="4" destOrd="0" presId="urn:microsoft.com/office/officeart/2005/8/layout/process1"/>
    <dgm:cxn modelId="{8D2B2D75-B192-4C19-9EC9-1C8DE2604AEA}" type="presParOf" srcId="{98F41C45-1807-4E23-A604-024740EE99E0}" destId="{C49CA969-DF4D-49B9-BFE6-2F2F3BE8855A}" srcOrd="5" destOrd="0" presId="urn:microsoft.com/office/officeart/2005/8/layout/process1"/>
    <dgm:cxn modelId="{A944C6A4-D916-40FD-B8F8-DCD465C1DAA4}" type="presParOf" srcId="{C49CA969-DF4D-49B9-BFE6-2F2F3BE8855A}" destId="{CA3C2E4B-FD28-4DDB-AB66-B1529ACE0C42}" srcOrd="0" destOrd="0" presId="urn:microsoft.com/office/officeart/2005/8/layout/process1"/>
    <dgm:cxn modelId="{8B824438-2F1C-412D-B44D-B5338C4239C4}" type="presParOf" srcId="{98F41C45-1807-4E23-A604-024740EE99E0}" destId="{0A2AB52C-BD3E-41B5-B114-7C03B064F8DE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AC3363-B648-4816-8800-8EE5BB62E654}">
      <dsp:nvSpPr>
        <dsp:cNvPr id="0" name=""/>
        <dsp:cNvSpPr/>
      </dsp:nvSpPr>
      <dsp:spPr>
        <a:xfrm>
          <a:off x="2678" y="1680616"/>
          <a:ext cx="1171277" cy="7027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Sitka Heading" pitchFamily="2" charset="0"/>
            </a:rPr>
            <a:t>DATA</a:t>
          </a:r>
          <a:endParaRPr lang="en-IN" sz="1600" kern="1200" dirty="0">
            <a:latin typeface="Sitka Heading" pitchFamily="2" charset="0"/>
          </a:endParaRPr>
        </a:p>
      </dsp:txBody>
      <dsp:txXfrm>
        <a:off x="23261" y="1701199"/>
        <a:ext cx="1130111" cy="661600"/>
      </dsp:txXfrm>
    </dsp:sp>
    <dsp:sp modelId="{FA9FA9B2-D3D0-420E-8952-5059B9AFBE3A}">
      <dsp:nvSpPr>
        <dsp:cNvPr id="0" name=""/>
        <dsp:cNvSpPr/>
      </dsp:nvSpPr>
      <dsp:spPr>
        <a:xfrm>
          <a:off x="1291083" y="1886761"/>
          <a:ext cx="248310" cy="2904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Sitka Heading" pitchFamily="2" charset="0"/>
          </a:endParaRPr>
        </a:p>
      </dsp:txBody>
      <dsp:txXfrm>
        <a:off x="1291083" y="1944856"/>
        <a:ext cx="173817" cy="174286"/>
      </dsp:txXfrm>
    </dsp:sp>
    <dsp:sp modelId="{3E74C4BD-5AEC-4A4C-8D68-A0A4E71B109D}">
      <dsp:nvSpPr>
        <dsp:cNvPr id="0" name=""/>
        <dsp:cNvSpPr/>
      </dsp:nvSpPr>
      <dsp:spPr>
        <a:xfrm>
          <a:off x="1642467" y="1680616"/>
          <a:ext cx="1171277" cy="70276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Sitka Heading" pitchFamily="2" charset="0"/>
            </a:rPr>
            <a:t>RISK SCORE</a:t>
          </a:r>
          <a:endParaRPr lang="en-IN" sz="1600" kern="1200" dirty="0">
            <a:latin typeface="Sitka Heading" pitchFamily="2" charset="0"/>
          </a:endParaRPr>
        </a:p>
      </dsp:txBody>
      <dsp:txXfrm>
        <a:off x="1663050" y="1701199"/>
        <a:ext cx="1130111" cy="661600"/>
      </dsp:txXfrm>
    </dsp:sp>
    <dsp:sp modelId="{B6BFCD2B-21EA-4213-9701-3FFF1E5F370E}">
      <dsp:nvSpPr>
        <dsp:cNvPr id="0" name=""/>
        <dsp:cNvSpPr/>
      </dsp:nvSpPr>
      <dsp:spPr>
        <a:xfrm>
          <a:off x="2930872" y="1886761"/>
          <a:ext cx="248310" cy="2904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Sitka Heading" pitchFamily="2" charset="0"/>
          </a:endParaRPr>
        </a:p>
      </dsp:txBody>
      <dsp:txXfrm>
        <a:off x="2930872" y="1944856"/>
        <a:ext cx="173817" cy="174286"/>
      </dsp:txXfrm>
    </dsp:sp>
    <dsp:sp modelId="{EB160EEA-6827-424B-B836-663A7D4F2DF2}">
      <dsp:nvSpPr>
        <dsp:cNvPr id="0" name=""/>
        <dsp:cNvSpPr/>
      </dsp:nvSpPr>
      <dsp:spPr>
        <a:xfrm>
          <a:off x="3282255" y="1680616"/>
          <a:ext cx="1171277" cy="70276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Sitka Heading" pitchFamily="2" charset="0"/>
            </a:rPr>
            <a:t>ACTION</a:t>
          </a:r>
          <a:endParaRPr lang="en-IN" sz="1600" kern="1200" dirty="0">
            <a:latin typeface="Sitka Heading" pitchFamily="2" charset="0"/>
          </a:endParaRPr>
        </a:p>
      </dsp:txBody>
      <dsp:txXfrm>
        <a:off x="3302838" y="1701199"/>
        <a:ext cx="1130111" cy="661600"/>
      </dsp:txXfrm>
    </dsp:sp>
    <dsp:sp modelId="{C49CA969-DF4D-49B9-BFE6-2F2F3BE8855A}">
      <dsp:nvSpPr>
        <dsp:cNvPr id="0" name=""/>
        <dsp:cNvSpPr/>
      </dsp:nvSpPr>
      <dsp:spPr>
        <a:xfrm>
          <a:off x="4570660" y="1886761"/>
          <a:ext cx="248310" cy="2904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Sitka Heading" pitchFamily="2" charset="0"/>
          </a:endParaRPr>
        </a:p>
      </dsp:txBody>
      <dsp:txXfrm>
        <a:off x="4570660" y="1944856"/>
        <a:ext cx="173817" cy="174286"/>
      </dsp:txXfrm>
    </dsp:sp>
    <dsp:sp modelId="{0A2AB52C-BD3E-41B5-B114-7C03B064F8DE}">
      <dsp:nvSpPr>
        <dsp:cNvPr id="0" name=""/>
        <dsp:cNvSpPr/>
      </dsp:nvSpPr>
      <dsp:spPr>
        <a:xfrm>
          <a:off x="4922043" y="1680616"/>
          <a:ext cx="1171277" cy="70276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Sitka Heading" pitchFamily="2" charset="0"/>
            </a:rPr>
            <a:t>FEEDBACK LOOP</a:t>
          </a:r>
          <a:endParaRPr lang="en-IN" sz="1600" kern="1200" dirty="0">
            <a:latin typeface="Sitka Heading" pitchFamily="2" charset="0"/>
          </a:endParaRPr>
        </a:p>
      </dsp:txBody>
      <dsp:txXfrm>
        <a:off x="4942626" y="1701199"/>
        <a:ext cx="1130111" cy="661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4045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3842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FF00"/>
                </a:solidFill>
                <a:latin typeface="Sitka Heading" pitchFamily="2" charset="0"/>
              </a:rPr>
              <a:t>AI-Powered Collections Strategy</a:t>
            </a:r>
            <a:endParaRPr dirty="0">
              <a:solidFill>
                <a:srgbClr val="FFFF00"/>
              </a:solidFill>
              <a:latin typeface="Sitka Heading" pitchFamily="2" charset="0"/>
            </a:endParaRP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Sitka Heading" pitchFamily="2" charset="0"/>
              </a:rPr>
              <a:t>Leveraging Agentic AI for Scalable, Fair, and Effective Debt Management at Geldium</a:t>
            </a:r>
            <a:endParaRPr dirty="0">
              <a:solidFill>
                <a:schemeClr val="tx1"/>
              </a:solidFill>
              <a:latin typeface="Sitka Heading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  <a:latin typeface="Sitka Heading" pitchFamily="2" charset="0"/>
              </a:rPr>
              <a:t>How the System Works Part - 1</a:t>
            </a:r>
            <a:endParaRPr dirty="0">
              <a:solidFill>
                <a:schemeClr val="accent6"/>
              </a:solidFill>
              <a:latin typeface="Sitka Heading" pitchFamily="2" charset="0"/>
            </a:endParaRPr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b="1" dirty="0">
                <a:solidFill>
                  <a:srgbClr val="FFC000"/>
                </a:solidFill>
                <a:latin typeface="Sitka Heading" pitchFamily="2" charset="0"/>
              </a:rPr>
              <a:t>1. Inputs</a:t>
            </a:r>
            <a:endParaRPr lang="en-US" sz="1600" dirty="0">
              <a:solidFill>
                <a:srgbClr val="FFC000"/>
              </a:solidFill>
              <a:latin typeface="Sitka Heading" pitchFamily="2" charset="0"/>
            </a:endParaRPr>
          </a:p>
          <a:p>
            <a:r>
              <a:rPr lang="en-US" sz="1600" dirty="0">
                <a:latin typeface="Sitka Heading" pitchFamily="2" charset="0"/>
              </a:rPr>
              <a:t>Customer demographics, income, loan balance</a:t>
            </a:r>
          </a:p>
          <a:p>
            <a:r>
              <a:rPr lang="en-US" sz="1600" dirty="0" err="1">
                <a:latin typeface="Sitka Heading" pitchFamily="2" charset="0"/>
              </a:rPr>
              <a:t>Credit_Utilization</a:t>
            </a:r>
            <a:r>
              <a:rPr lang="en-US" sz="1600" dirty="0">
                <a:latin typeface="Sitka Heading" pitchFamily="2" charset="0"/>
              </a:rPr>
              <a:t> and </a:t>
            </a:r>
            <a:r>
              <a:rPr lang="en-US" sz="1600" dirty="0" err="1">
                <a:latin typeface="Sitka Heading" pitchFamily="2" charset="0"/>
              </a:rPr>
              <a:t>Debt_to_Income_Ratio</a:t>
            </a:r>
            <a:endParaRPr lang="en-US" sz="1600" dirty="0">
              <a:latin typeface="Sitka Heading" pitchFamily="2" charset="0"/>
            </a:endParaRPr>
          </a:p>
          <a:p>
            <a:r>
              <a:rPr lang="en-US" sz="1600" dirty="0" err="1">
                <a:latin typeface="Sitka Heading" pitchFamily="2" charset="0"/>
              </a:rPr>
              <a:t>Missed_Payments</a:t>
            </a:r>
            <a:r>
              <a:rPr lang="en-US" sz="1600" dirty="0">
                <a:latin typeface="Sitka Heading" pitchFamily="2" charset="0"/>
              </a:rPr>
              <a:t> and Month_1–Month_6 repayment history</a:t>
            </a:r>
          </a:p>
          <a:p>
            <a:r>
              <a:rPr lang="en-US" sz="1600" dirty="0">
                <a:latin typeface="Sitka Heading" pitchFamily="2" charset="0"/>
              </a:rPr>
              <a:t>Real-time account activity and updated risk scores</a:t>
            </a:r>
          </a:p>
          <a:p>
            <a:endParaRPr lang="en-US" sz="1600" dirty="0">
              <a:latin typeface="Sitka Heading" pitchFamily="2" charset="0"/>
            </a:endParaRPr>
          </a:p>
          <a:p>
            <a:pPr marL="114300" indent="0">
              <a:buNone/>
            </a:pPr>
            <a:r>
              <a:rPr lang="en-US" sz="1600" b="1" dirty="0">
                <a:solidFill>
                  <a:srgbClr val="FFC000"/>
                </a:solidFill>
                <a:latin typeface="Sitka Heading" pitchFamily="2" charset="0"/>
              </a:rPr>
              <a:t>2. Decision Logic</a:t>
            </a:r>
            <a:endParaRPr lang="en-US" sz="1600" dirty="0">
              <a:solidFill>
                <a:srgbClr val="FFC000"/>
              </a:solidFill>
              <a:latin typeface="Sitka Heading" pitchFamily="2" charset="0"/>
            </a:endParaRPr>
          </a:p>
          <a:p>
            <a:r>
              <a:rPr lang="en-US" sz="1600" dirty="0">
                <a:latin typeface="Sitka Heading" pitchFamily="2" charset="0"/>
              </a:rPr>
              <a:t>Uses delinquency prediction model to classify risk (low/medium/high)</a:t>
            </a:r>
          </a:p>
          <a:p>
            <a:r>
              <a:rPr lang="en-US" sz="1600" dirty="0">
                <a:latin typeface="Sitka Heading" pitchFamily="2" charset="0"/>
              </a:rPr>
              <a:t>Applies business rules (e.g., when to send reminders, when to escalate)</a:t>
            </a:r>
          </a:p>
          <a:p>
            <a:r>
              <a:rPr lang="en-US" sz="1600" dirty="0">
                <a:latin typeface="Sitka Heading" pitchFamily="2" charset="0"/>
              </a:rPr>
              <a:t>Selects optimal intervention based on customer behavior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0151-CD33-138D-50AC-11F0B390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>
                <a:solidFill>
                  <a:schemeClr val="accent6"/>
                </a:solidFill>
                <a:latin typeface="Sitka Heading" pitchFamily="2" charset="0"/>
              </a:rPr>
              <a:t>How the System Works Part-2</a:t>
            </a:r>
            <a:endParaRPr lang="en-IN" dirty="0">
              <a:solidFill>
                <a:schemeClr val="accent6"/>
              </a:solidFill>
              <a:latin typeface="Sitka Heading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8EB09-51DA-5D0F-914E-1317F9001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600" b="1" dirty="0">
                <a:solidFill>
                  <a:srgbClr val="FFC000"/>
                </a:solidFill>
                <a:latin typeface="Sitka Heading" pitchFamily="2" charset="0"/>
              </a:rPr>
              <a:t>Actions</a:t>
            </a:r>
            <a:endParaRPr lang="en-US" sz="1600" dirty="0">
              <a:solidFill>
                <a:srgbClr val="FFC000"/>
              </a:solidFill>
              <a:latin typeface="Sitka Heading" pitchFamily="2" charset="0"/>
            </a:endParaRPr>
          </a:p>
          <a:p>
            <a:r>
              <a:rPr lang="en-US" sz="1600" dirty="0">
                <a:latin typeface="Sitka Heading" pitchFamily="2" charset="0"/>
              </a:rPr>
              <a:t>Sends personalized SMS/email reminders</a:t>
            </a:r>
          </a:p>
          <a:p>
            <a:r>
              <a:rPr lang="en-US" sz="1600" dirty="0">
                <a:latin typeface="Sitka Heading" pitchFamily="2" charset="0"/>
              </a:rPr>
              <a:t>Offers short-term payment plans or deferrals</a:t>
            </a:r>
          </a:p>
          <a:p>
            <a:r>
              <a:rPr lang="en-US" sz="1600" dirty="0">
                <a:latin typeface="Sitka Heading" pitchFamily="2" charset="0"/>
              </a:rPr>
              <a:t>Schedules agent callback for high-risk or sensitive cases</a:t>
            </a:r>
          </a:p>
          <a:p>
            <a:endParaRPr lang="en-US" sz="1600" dirty="0">
              <a:latin typeface="Sitka Heading" pitchFamily="2" charset="0"/>
            </a:endParaRPr>
          </a:p>
          <a:p>
            <a:pPr marL="114300" indent="0">
              <a:buNone/>
            </a:pPr>
            <a:r>
              <a:rPr lang="en-US" sz="1600" b="1" dirty="0">
                <a:solidFill>
                  <a:srgbClr val="FFC000"/>
                </a:solidFill>
                <a:latin typeface="Sitka Heading" pitchFamily="2" charset="0"/>
              </a:rPr>
              <a:t>Learning Loop</a:t>
            </a:r>
            <a:endParaRPr lang="en-US" sz="1600" dirty="0">
              <a:solidFill>
                <a:srgbClr val="FFC000"/>
              </a:solidFill>
              <a:latin typeface="Sitka Heading" pitchFamily="2" charset="0"/>
            </a:endParaRPr>
          </a:p>
          <a:p>
            <a:r>
              <a:rPr lang="en-US" sz="1600" dirty="0">
                <a:latin typeface="Sitka Heading" pitchFamily="2" charset="0"/>
              </a:rPr>
              <a:t>Tracks customer response and repayment success</a:t>
            </a:r>
          </a:p>
          <a:p>
            <a:r>
              <a:rPr lang="en-US" sz="1600" dirty="0">
                <a:latin typeface="Sitka Heading" pitchFamily="2" charset="0"/>
              </a:rPr>
              <a:t>Updates rules and model behavior over time</a:t>
            </a:r>
          </a:p>
          <a:p>
            <a:r>
              <a:rPr lang="en-US" sz="1600" dirty="0">
                <a:latin typeface="Sitka Heading" pitchFamily="2" charset="0"/>
              </a:rPr>
              <a:t>Improves accuracy of future interventions</a:t>
            </a:r>
          </a:p>
          <a:p>
            <a:endParaRPr lang="en-IN" dirty="0">
              <a:latin typeface="Sitka Heading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014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E486A-14E0-0537-56CE-F63BBA760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  <a:latin typeface="Sitka Heading" pitchFamily="2" charset="0"/>
              </a:rPr>
              <a:t>HOW THE SYSTEM WORKS — VISUAL FLOW</a:t>
            </a:r>
            <a:endParaRPr lang="en-IN" dirty="0">
              <a:solidFill>
                <a:schemeClr val="accent6"/>
              </a:solidFill>
              <a:latin typeface="Sitka Heading" pitchFamily="2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723092C-18AD-A018-A8CF-36E69FA134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4620576"/>
              </p:ext>
            </p:extLst>
          </p:nvPr>
        </p:nvGraphicFramePr>
        <p:xfrm>
          <a:off x="1118559" y="375848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E065919C-DF27-0AD3-CCD8-0E26DC0202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00664" y="3497173"/>
            <a:ext cx="763437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itka Heading" pitchFamily="2" charset="0"/>
              </a:rPr>
              <a:t>Data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Heading" pitchFamily="2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Heading" pitchFamily="2" charset="0"/>
              </a:rPr>
              <a:t>  Customer profile, financial metrics, recent payment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itka Heading" pitchFamily="2" charset="0"/>
              </a:rPr>
              <a:t>Risk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Heading" pitchFamily="2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itka Heading" pitchFamily="2" charset="0"/>
              </a:rPr>
              <a:t>Score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Heading" pitchFamily="2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Heading" pitchFamily="2" charset="0"/>
              </a:rPr>
              <a:t>  Logistic model assigns probability of delinquency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itka Heading" pitchFamily="2" charset="0"/>
              </a:rPr>
              <a:t>Action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Heading" pitchFamily="2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Heading" pitchFamily="2" charset="0"/>
              </a:rPr>
              <a:t>  Reminder / payment plan / human escalation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Sitka Heading" pitchFamily="2" charset="0"/>
              </a:rPr>
              <a:t>Feedback Loop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Heading" pitchFamily="2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Heading" pitchFamily="2" charset="0"/>
              </a:rPr>
              <a:t>  System learns from customer response patterns</a:t>
            </a:r>
          </a:p>
        </p:txBody>
      </p:sp>
    </p:spTree>
    <p:extLst>
      <p:ext uri="{BB962C8B-B14F-4D97-AF65-F5344CB8AC3E}">
        <p14:creationId xmlns:p14="http://schemas.microsoft.com/office/powerpoint/2010/main" val="3325543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  <a:latin typeface="Sitka Heading" pitchFamily="2" charset="0"/>
              </a:rPr>
              <a:t>Role of Agentic AI</a:t>
            </a:r>
            <a:endParaRPr dirty="0">
              <a:solidFill>
                <a:schemeClr val="accent6"/>
              </a:solidFill>
              <a:latin typeface="Sitka Heading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99FDBD-D4AB-3487-70F1-5F0D1F502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527393"/>
              </p:ext>
            </p:extLst>
          </p:nvPr>
        </p:nvGraphicFramePr>
        <p:xfrm>
          <a:off x="387900" y="1361326"/>
          <a:ext cx="8369300" cy="2336248"/>
        </p:xfrm>
        <a:graphic>
          <a:graphicData uri="http://schemas.openxmlformats.org/drawingml/2006/table">
            <a:tbl>
              <a:tblPr/>
              <a:tblGrid>
                <a:gridCol w="4184650">
                  <a:extLst>
                    <a:ext uri="{9D8B030D-6E8A-4147-A177-3AD203B41FA5}">
                      <a16:colId xmlns:a16="http://schemas.microsoft.com/office/drawing/2014/main" val="3286985582"/>
                    </a:ext>
                  </a:extLst>
                </a:gridCol>
                <a:gridCol w="4184650">
                  <a:extLst>
                    <a:ext uri="{9D8B030D-6E8A-4147-A177-3AD203B41FA5}">
                      <a16:colId xmlns:a16="http://schemas.microsoft.com/office/drawing/2014/main" val="1837714239"/>
                    </a:ext>
                  </a:extLst>
                </a:gridCol>
              </a:tblGrid>
              <a:tr h="409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FFC000"/>
                          </a:solidFill>
                          <a:latin typeface="Sitka Heading" pitchFamily="2" charset="0"/>
                        </a:rPr>
                        <a:t>Autonomous AI Actions</a:t>
                      </a:r>
                      <a:endParaRPr lang="en-IN" sz="1600" dirty="0">
                        <a:solidFill>
                          <a:srgbClr val="FFC000"/>
                        </a:solidFill>
                        <a:latin typeface="Sitka Heading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FFC000"/>
                          </a:solidFill>
                          <a:latin typeface="Sitka Heading" pitchFamily="2" charset="0"/>
                        </a:rPr>
                        <a:t>Human Oversight Needed</a:t>
                      </a:r>
                      <a:endParaRPr lang="en-IN" sz="1600" dirty="0">
                        <a:solidFill>
                          <a:srgbClr val="FFC000"/>
                        </a:solidFill>
                        <a:latin typeface="Sitka Heading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924558"/>
                  </a:ext>
                </a:extLst>
              </a:tr>
              <a:tr h="409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Sitka Heading" pitchFamily="2" charset="0"/>
                        </a:rPr>
                        <a:t>Assigning delinquency risk scores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Sitka Heading" pitchFamily="2" charset="0"/>
                        </a:rPr>
                        <a:t>Handling high-risk or sensitive hardship 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839367"/>
                  </a:ext>
                </a:extLst>
              </a:tr>
              <a:tr h="409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Sitka Heading" pitchFamily="2" charset="0"/>
                        </a:rPr>
                        <a:t>Triggering reminder messages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Sitka Heading" pitchFamily="2" charset="0"/>
                        </a:rPr>
                        <a:t>Approving exceptions or escalation decisions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604577"/>
                  </a:ext>
                </a:extLst>
              </a:tr>
              <a:tr h="696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Sitka Heading" pitchFamily="2" charset="0"/>
                        </a:rPr>
                        <a:t>Adjusting communication timing based on engagement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Sitka Heading" pitchFamily="2" charset="0"/>
                        </a:rPr>
                        <a:t>Monitoring fairness, compliance, and audit logs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071954"/>
                  </a:ext>
                </a:extLst>
              </a:tr>
              <a:tr h="409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Sitka Heading" pitchFamily="2" charset="0"/>
                        </a:rPr>
                        <a:t>Selecting next-step interventions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Sitka Heading" pitchFamily="2" charset="0"/>
                        </a:rPr>
                        <a:t>Final review when customer disputes arise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359237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64A2C8A1-10A9-71E1-93AA-9DE68E2DC9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7900" y="3890755"/>
            <a:ext cx="810049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600" b="1" dirty="0">
                <a:solidFill>
                  <a:srgbClr val="92D050"/>
                </a:solidFill>
                <a:latin typeface="Sitka Heading" pitchFamily="2" charset="0"/>
              </a:rPr>
              <a:t>Summary:</a:t>
            </a:r>
            <a:br>
              <a:rPr lang="en-US" sz="1600" dirty="0">
                <a:latin typeface="Sitka Heading" pitchFamily="2" charset="0"/>
              </a:rPr>
            </a:br>
            <a:r>
              <a:rPr lang="en-US" sz="1600" dirty="0">
                <a:latin typeface="Sitka Heading" pitchFamily="2" charset="0"/>
              </a:rPr>
              <a:t>Agentic AI handles routine, scalable decisions, while humans monitor fairness, compliance, and sensitive case handling.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Heading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  <a:latin typeface="Sitka Heading" pitchFamily="2" charset="0"/>
              </a:rPr>
              <a:t>Responsible AI Guardrails</a:t>
            </a:r>
            <a:endParaRPr dirty="0">
              <a:solidFill>
                <a:schemeClr val="accent6"/>
              </a:solidFill>
              <a:latin typeface="Sitka Heading" pitchFamily="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356DC0-DF53-F3EA-5EA5-4C79121E45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7350" y="1628567"/>
            <a:ext cx="8188479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Sitka Heading" pitchFamily="2" charset="0"/>
              </a:rPr>
              <a:t>Fairness Monitoring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Heading" pitchFamily="2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Heading" pitchFamily="2" charset="0"/>
              </a:rPr>
              <a:t> Evaluate model performance across income groups, employment status, and locations to prevent discriminatory outcomes.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Heading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Sitka Heading" pitchFamily="2" charset="0"/>
              </a:rPr>
              <a:t>Explainability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Heading" pitchFamily="2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Heading" pitchFamily="2" charset="0"/>
              </a:rPr>
              <a:t> Provide clear reasoning (e.g., “High utilization + repeated missed payments”) for every automated decision.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Heading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Sitka Heading" pitchFamily="2" charset="0"/>
              </a:rPr>
              <a:t>Regulatory Compliance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Heading" pitchFamily="2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Heading" pitchFamily="2" charset="0"/>
              </a:rPr>
              <a:t> Ensure compliance with consumer protection laws, data privacy rules, and internal audit standards.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Heading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Sitka Heading" pitchFamily="2" charset="0"/>
              </a:rPr>
              <a:t>Human-in-the-Loop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Heading" pitchFamily="2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Heading" pitchFamily="2" charset="0"/>
              </a:rPr>
              <a:t> Maintain human review for escalations, hardship approvals, and any customer-impacting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  <a:latin typeface="Sitka Heading" pitchFamily="2" charset="0"/>
              </a:rPr>
              <a:t>Expected Business Impact</a:t>
            </a:r>
            <a:endParaRPr dirty="0">
              <a:solidFill>
                <a:schemeClr val="accent6"/>
              </a:solidFill>
              <a:latin typeface="Sitka Heading" pitchFamily="2" charset="0"/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b="1" dirty="0">
                <a:solidFill>
                  <a:srgbClr val="FFC000"/>
                </a:solidFill>
                <a:latin typeface="Sitka Heading" pitchFamily="2" charset="0"/>
              </a:rPr>
              <a:t>Business KPIs (Quantitative Impact)</a:t>
            </a:r>
          </a:p>
          <a:p>
            <a:r>
              <a:rPr lang="en-US" sz="1600" dirty="0">
                <a:latin typeface="Sitka Heading" pitchFamily="2" charset="0"/>
              </a:rPr>
              <a:t>Reduction in delinquency rates through earlier intervention</a:t>
            </a:r>
          </a:p>
          <a:p>
            <a:r>
              <a:rPr lang="en-US" sz="1600" dirty="0">
                <a:latin typeface="Sitka Heading" pitchFamily="2" charset="0"/>
              </a:rPr>
              <a:t>Increased repayment recovery for medium and high-risk customers</a:t>
            </a:r>
          </a:p>
          <a:p>
            <a:r>
              <a:rPr lang="en-US" sz="1600" dirty="0">
                <a:latin typeface="Sitka Heading" pitchFamily="2" charset="0"/>
              </a:rPr>
              <a:t>Lower collections cost due to automation</a:t>
            </a:r>
          </a:p>
          <a:p>
            <a:r>
              <a:rPr lang="en-US" sz="1600" dirty="0">
                <a:latin typeface="Sitka Heading" pitchFamily="2" charset="0"/>
              </a:rPr>
              <a:t>Higher efficiency via optimized agent workloads</a:t>
            </a:r>
          </a:p>
          <a:p>
            <a:pPr marL="114300" indent="0">
              <a:buNone/>
            </a:pPr>
            <a:r>
              <a:rPr lang="en-US" sz="1600" b="1" dirty="0">
                <a:solidFill>
                  <a:srgbClr val="FFC000"/>
                </a:solidFill>
                <a:latin typeface="Sitka Heading" pitchFamily="2" charset="0"/>
              </a:rPr>
              <a:t>Customer Outcomes (Qualitative Impact)</a:t>
            </a:r>
          </a:p>
          <a:p>
            <a:r>
              <a:rPr lang="en-US" sz="1600" dirty="0">
                <a:latin typeface="Sitka Heading" pitchFamily="2" charset="0"/>
              </a:rPr>
              <a:t>More personalized, empathetic communication</a:t>
            </a:r>
          </a:p>
          <a:p>
            <a:r>
              <a:rPr lang="en-US" sz="1600" dirty="0">
                <a:latin typeface="Sitka Heading" pitchFamily="2" charset="0"/>
              </a:rPr>
              <a:t>Early support reduces financial strain</a:t>
            </a:r>
          </a:p>
          <a:p>
            <a:r>
              <a:rPr lang="en-US" sz="1600" dirty="0">
                <a:latin typeface="Sitka Heading" pitchFamily="2" charset="0"/>
              </a:rPr>
              <a:t>Fairer treatment through consistent decisioning</a:t>
            </a:r>
          </a:p>
          <a:p>
            <a:r>
              <a:rPr lang="en-US" sz="1600" dirty="0">
                <a:latin typeface="Sitka Heading" pitchFamily="2" charset="0"/>
              </a:rPr>
              <a:t>Increased trust due to transparent, explainable interactions</a:t>
            </a:r>
          </a:p>
          <a:p>
            <a:pPr>
              <a:buNone/>
            </a:pPr>
            <a:endParaRPr lang="en-GB" sz="1600" dirty="0">
              <a:latin typeface="Sitka Heading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424</Words>
  <Application>Microsoft Office PowerPoint</Application>
  <PresentationFormat>On-screen Show (16:9)</PresentationFormat>
  <Paragraphs>63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Sitka Heading</vt:lpstr>
      <vt:lpstr>Roboto</vt:lpstr>
      <vt:lpstr>Roboto Slab</vt:lpstr>
      <vt:lpstr>Marina</vt:lpstr>
      <vt:lpstr>AI-Powered Collections Strategy</vt:lpstr>
      <vt:lpstr>How the System Works Part - 1</vt:lpstr>
      <vt:lpstr>How the System Works Part-2</vt:lpstr>
      <vt:lpstr>HOW THE SYSTEM WORKS — VISUAL FLOW</vt:lpstr>
      <vt:lpstr>Role of Agentic AI</vt:lpstr>
      <vt:lpstr>Responsible AI Guardrails</vt:lpstr>
      <vt:lpstr>Expected Business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Vemuru Vinay</dc:creator>
  <cp:lastModifiedBy>Vemuru Vinay</cp:lastModifiedBy>
  <cp:revision>4</cp:revision>
  <dcterms:modified xsi:type="dcterms:W3CDTF">2026-02-04T11:28:02Z</dcterms:modified>
</cp:coreProperties>
</file>